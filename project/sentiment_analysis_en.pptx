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 Count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6C5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Positive</c:v>
                  </c:pt>
                  <c:pt idx="1">
                    <c:v>Joy</c:v>
                  </c:pt>
                  <c:pt idx="2">
                    <c:v>Excitement</c:v>
                  </c:pt>
                  <c:pt idx="3">
                    <c:v>Neutral</c:v>
                  </c:pt>
                  <c:pt idx="4">
                    <c:v>Contentment</c:v>
                  </c:pt>
                  <c:pt idx="5">
                    <c:v>Gratitude</c:v>
                  </c:pt>
                  <c:pt idx="6">
                    <c:v>Curiosity</c:v>
                  </c:pt>
                  <c:pt idx="7">
                    <c:v>Serenity</c:v>
                  </c:pt>
                  <c:pt idx="8">
                    <c:v>Happy</c:v>
                  </c:pt>
                  <c:pt idx="9">
                    <c:v>Despair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44</c:v>
                </c:pt>
                <c:pt idx="2">
                  <c:v>37</c:v>
                </c:pt>
                <c:pt idx="3">
                  <c:v>18</c:v>
                </c:pt>
                <c:pt idx="4">
                  <c:v>18</c:v>
                </c:pt>
                <c:pt idx="5">
                  <c:v>17</c:v>
                </c:pt>
                <c:pt idx="6">
                  <c:v>16</c:v>
                </c:pt>
                <c:pt idx="7">
                  <c:v>15</c:v>
                </c:pt>
                <c:pt idx="8">
                  <c:v>14</c:v>
                </c:pt>
                <c:pt idx="9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Twitter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Positive</c:v>
                  </c:pt>
                  <c:pt idx="1">
                    <c:v>Joy</c:v>
                  </c:pt>
                  <c:pt idx="2">
                    <c:v>Excitement</c:v>
                  </c:pt>
                  <c:pt idx="3">
                    <c:v>Neutral</c:v>
                  </c:pt>
                  <c:pt idx="4">
                    <c:v>Contentment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14</c:v>
                </c:pt>
                <c:pt idx="2">
                  <c:v>12</c:v>
                </c:pt>
                <c:pt idx="3">
                  <c:v>7</c:v>
                </c:pt>
                <c:pt idx="4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rgbClr val="56C5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Positive</c:v>
                  </c:pt>
                  <c:pt idx="1">
                    <c:v>Joy</c:v>
                  </c:pt>
                  <c:pt idx="2">
                    <c:v>Excitement</c:v>
                  </c:pt>
                  <c:pt idx="3">
                    <c:v>Neutral</c:v>
                  </c:pt>
                  <c:pt idx="4">
                    <c:v>Contentment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17</c:v>
                </c:pt>
                <c:pt idx="2">
                  <c:v>14</c:v>
                </c:pt>
                <c:pt idx="3">
                  <c:v>6</c:v>
                </c:pt>
                <c:pt idx="4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rgbClr val="F9A8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Positive</c:v>
                  </c:pt>
                  <c:pt idx="1">
                    <c:v>Joy</c:v>
                  </c:pt>
                  <c:pt idx="2">
                    <c:v>Excitement</c:v>
                  </c:pt>
                  <c:pt idx="3">
                    <c:v>Neutral</c:v>
                  </c:pt>
                  <c:pt idx="4">
                    <c:v>Contentment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</c:v>
                </c:pt>
                <c:pt idx="1">
                  <c:v>13</c:v>
                </c:pt>
                <c:pt idx="2">
                  <c:v>11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Avg Likes by Sentiment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Likes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6C5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6C59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Positive</c:v>
                  </c:pt>
                  <c:pt idx="1">
                    <c:v>Joy</c:v>
                  </c:pt>
                  <c:pt idx="2">
                    <c:v>Excitement</c:v>
                  </c:pt>
                  <c:pt idx="3">
                    <c:v>Contentment</c:v>
                  </c:pt>
                  <c:pt idx="4">
                    <c:v>Gratitude</c:v>
                  </c:pt>
                  <c:pt idx="5">
                    <c:v>Neutral</c:v>
                  </c:pt>
                  <c:pt idx="6">
                    <c:v>Curiosity</c:v>
                  </c:pt>
                  <c:pt idx="7">
                    <c:v>Serenity</c:v>
                  </c:pt>
                  <c:pt idx="8">
                    <c:v>Happy</c:v>
                  </c:pt>
                  <c:pt idx="9">
                    <c:v>Despair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</c:v>
                </c:pt>
                <c:pt idx="1">
                  <c:v>46</c:v>
                </c:pt>
                <c:pt idx="2">
                  <c:v>45</c:v>
                </c:pt>
                <c:pt idx="3">
                  <c:v>43</c:v>
                </c:pt>
                <c:pt idx="4">
                  <c:v>42</c:v>
                </c:pt>
                <c:pt idx="5">
                  <c:v>41</c:v>
                </c:pt>
                <c:pt idx="6">
                  <c:v>40</c:v>
                </c:pt>
                <c:pt idx="7">
                  <c:v>39</c:v>
                </c:pt>
                <c:pt idx="8">
                  <c:v>44</c:v>
                </c:pt>
                <c:pt idx="9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9C27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27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27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1FA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1FA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B47B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B47B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E93D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E93D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1BEE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1BEE7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love</c:v>
                  </c:pt>
                  <c:pt idx="1">
                    <c:v>happiness</c:v>
                  </c:pt>
                  <c:pt idx="2">
                    <c:v>nature</c:v>
                  </c:pt>
                  <c:pt idx="3">
                    <c:v>health</c:v>
                  </c:pt>
                  <c:pt idx="4">
                    <c:v>lifestyle</c:v>
                  </c:pt>
                  <c:pt idx="5">
                    <c:v>travel</c:v>
                  </c:pt>
                  <c:pt idx="6">
                    <c:v>food</c:v>
                  </c:pt>
                  <c:pt idx="7">
                    <c:v>fitness</c:v>
                  </c:pt>
                  <c:pt idx="8">
                    <c:v>art</c:v>
                  </c:pt>
                  <c:pt idx="9">
                    <c:v>music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</c:v>
                </c:pt>
                <c:pt idx="1">
                  <c:v>35</c:v>
                </c:pt>
                <c:pt idx="2">
                  <c:v>30</c:v>
                </c:pt>
                <c:pt idx="3">
                  <c:v>28</c:v>
                </c:pt>
                <c:pt idx="4">
                  <c:v>26</c:v>
                </c:pt>
                <c:pt idx="5">
                  <c:v>24</c:v>
                </c:pt>
                <c:pt idx="6">
                  <c:v>22</c:v>
                </c:pt>
                <c:pt idx="7">
                  <c:v>20</c:v>
                </c:pt>
                <c:pt idx="8">
                  <c:v>19</c:v>
                </c:pt>
                <c:pt idx="9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10 Feature Importances (Likes)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56C5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6C5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6C5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896A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hashtag_count</c:v>
                  </c:pt>
                  <c:pt idx="1">
                    <c:v>Sentiment_Joy</c:v>
                  </c:pt>
                  <c:pt idx="2">
                    <c:v>Sentiment_Positive</c:v>
                  </c:pt>
                  <c:pt idx="3">
                    <c:v>Platform_Twitter</c:v>
                  </c:pt>
                  <c:pt idx="4">
                    <c:v>Sentiment_Excitement</c:v>
                  </c:pt>
                  <c:pt idx="5">
                    <c:v>Platform_Instagram</c:v>
                  </c:pt>
                  <c:pt idx="6">
                    <c:v>Sentiment_Neutral</c:v>
                  </c:pt>
                  <c:pt idx="7">
                    <c:v>Sentiment_Serenity</c:v>
                  </c:pt>
                  <c:pt idx="8">
                    <c:v>Sentiment_Gratitude</c:v>
                  </c:pt>
                  <c:pt idx="9">
                    <c:v>Sentiment_Curiosity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0.18</c:v>
                </c:pt>
                <c:pt idx="1">
                  <c:v>0.12</c:v>
                </c:pt>
                <c:pt idx="2">
                  <c:v>0.1</c:v>
                </c:pt>
                <c:pt idx="3">
                  <c:v>0.09</c:v>
                </c:pt>
                <c:pt idx="4">
                  <c:v>0.08</c:v>
                </c:pt>
                <c:pt idx="5">
                  <c:v>0.07</c:v>
                </c:pt>
                <c:pt idx="6">
                  <c:v>0.06</c:v>
                </c:pt>
                <c:pt idx="7">
                  <c:v>0.05</c:v>
                </c:pt>
                <c:pt idx="8">
                  <c:v>0.05</c:v>
                </c:pt>
                <c:pt idx="9">
                  <c:v>0.04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274320"/>
            <a:ext cx="3474720" cy="292608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D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Sentiment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Engagement Prediction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0292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300" dirty="0">
                <a:solidFill>
                  <a:srgbClr val="C5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Sentiment Analysis Dataset  |  </a:t>
            </a:r>
            <a:pPr indent="0" marL="0">
              <a:buNone/>
            </a:pPr>
            <a:r>
              <a:rPr lang="en-US" sz="1300" dirty="0">
                <a:solidFill>
                  <a:srgbClr val="C5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711 posts  |  Twitter, Instagram, Facebook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28016" cy="12801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66090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 &amp; temporal trends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27248"/>
            <a:ext cx="128016" cy="12801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0906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(Likes / Retweets)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57016"/>
            <a:ext cx="128016" cy="12801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5204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models: Logistic Regression &amp; SVM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86784"/>
            <a:ext cx="128016" cy="12801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9502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prediction: Random Forest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51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Sentiment Distribution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4447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sentiment distribution patterns across platforms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109728" cy="105156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331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Temporal Trends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26791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how sentiment evolves over time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474720"/>
            <a:ext cx="109728" cy="10515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566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Engagement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39136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relationship between Likes/Retweets and sentiment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1005840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005840"/>
            <a:ext cx="109728" cy="105156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Topic Mining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01768" y="14447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trending hashtags and their sentiment/engagement patterns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2240280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240280"/>
            <a:ext cx="109728" cy="105156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2331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Geographic Differences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01768" y="26791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sentiment distribution differences across countries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3474720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474720"/>
            <a:ext cx="109728" cy="10515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3566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Engagement Prediction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01768" y="39136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post engagement based on sentiment, topic, and platform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960120"/>
            <a:ext cx="1965960" cy="201168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1887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7556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1965960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887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09160" y="17556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Types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960120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960120"/>
            <a:ext cx="1965960" cy="20116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1887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58000" y="17556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468880"/>
            <a:ext cx="84124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25420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Descriptions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008376"/>
            <a:ext cx="82296" cy="8229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294436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37360" y="2944368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post text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255264"/>
            <a:ext cx="82296" cy="8229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" y="319125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3191256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label (Positive, Joy, Excitement…)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502152"/>
            <a:ext cx="82296" cy="8229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3438144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37360" y="3438144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platform (Twitter / Instagram / Facebook)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3749040"/>
            <a:ext cx="82296" cy="8229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" y="368503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Likes / Retweets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737360" y="3685032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counts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008376"/>
            <a:ext cx="82296" cy="8229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5464" y="294436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2944368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timestamp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255264"/>
            <a:ext cx="82296" cy="8229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5464" y="319125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3191256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country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3502152"/>
            <a:ext cx="82296" cy="8229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5464" y="3438144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Hashtags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0" y="3438144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hashtags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3749040"/>
            <a:ext cx="82296" cy="8229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55464" y="368503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clean_text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943600" y="3685032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text (URLs and @mentions removed)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51960" y="960120"/>
            <a:ext cx="274320" cy="1170432"/>
          </a:xfrm>
          <a:prstGeom prst="rect">
            <a:avLst/>
          </a:prstGeom>
          <a:solidFill>
            <a:srgbClr val="56C596">
              <a:alpha val="30000"/>
            </a:srgbClr>
          </a:solidFill>
          <a:ln w="12700">
            <a:solidFill>
              <a:srgbClr val="56C596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Redundant Index Columns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Unnamed columns from CSV exports and standardize column names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2286000"/>
            <a:ext cx="274320" cy="1170432"/>
          </a:xfrm>
          <a:prstGeom prst="rect">
            <a:avLst/>
          </a:prstGeom>
          <a:solidFill>
            <a:srgbClr val="56C596">
              <a:alpha val="30000"/>
            </a:srgbClr>
          </a:solidFill>
          <a:ln w="12700">
            <a:solidFill>
              <a:srgbClr val="56C596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377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Categorical Fields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7432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whitespace from Platform/Sentiment/Country to avoid treating identical values as different categories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3611880"/>
            <a:ext cx="274320" cy="1170432"/>
          </a:xfrm>
          <a:prstGeom prst="rect">
            <a:avLst/>
          </a:prstGeom>
          <a:solidFill>
            <a:srgbClr val="56C596">
              <a:alpha val="30000"/>
            </a:srgbClr>
          </a:solidFill>
          <a:ln w="12700">
            <a:solidFill>
              <a:srgbClr val="56C596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Numeric Fields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0690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Likes/Retweets to numeric (coerce errors) and Timestamp to datetime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41080" y="960120"/>
            <a:ext cx="274320" cy="1170432"/>
          </a:xfrm>
          <a:prstGeom prst="rect">
            <a:avLst/>
          </a:prstGeom>
          <a:solidFill>
            <a:srgbClr val="56C596">
              <a:alpha val="30000"/>
            </a:srgbClr>
          </a:solidFill>
          <a:ln w="12700">
            <a:solidFill>
              <a:srgbClr val="56C596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1051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&amp; Drop Missing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41732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rows and rows missing Text, Sentiment, Platform, Timestamp, Likes, or Retweets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41080" y="2286000"/>
            <a:ext cx="274320" cy="1170432"/>
          </a:xfrm>
          <a:prstGeom prst="rect">
            <a:avLst/>
          </a:prstGeom>
          <a:solidFill>
            <a:srgbClr val="56C596">
              <a:alpha val="30000"/>
            </a:srgbClr>
          </a:solidFill>
          <a:ln w="12700">
            <a:solidFill>
              <a:srgbClr val="56C596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94960" y="2377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Invalid Engagement Values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7432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records with Likes ≥ 0 and Retweets ≥ 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41080" y="3611880"/>
            <a:ext cx="274320" cy="1170432"/>
          </a:xfrm>
          <a:prstGeom prst="rect">
            <a:avLst/>
          </a:prstGeom>
          <a:solidFill>
            <a:srgbClr val="56C596">
              <a:alpha val="30000"/>
            </a:srgbClr>
          </a:solidFill>
          <a:ln w="12700">
            <a:solidFill>
              <a:srgbClr val="56C596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94960" y="3703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06908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→ remove URLs → remove @mentions → normalize whitespace → keep hashtags for topic analysis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2514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77640" y="329184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3291840"/>
            <a:ext cx="164592" cy="164592"/>
          </a:xfrm>
          <a:prstGeom prst="ellipse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3291840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6692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868680"/>
            <a:ext cx="25603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55080" y="1005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1490472"/>
            <a:ext cx="9144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73368" y="1490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&amp; Joy Lead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73368" y="1764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two categories — overall tone is positive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2249424"/>
            <a:ext cx="91440" cy="54864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73368" y="22494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Excitement Ranks 3rd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73368" y="25237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posts expressing excitement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3008376"/>
            <a:ext cx="91440" cy="5486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3368" y="3008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Sentiment is Rare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73368" y="3282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Despair, Anger and similar categories are underrepresented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3767328"/>
            <a:ext cx="91440" cy="5486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3767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Sentiment Labels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73368" y="4041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taxonomy, but some classes have very few samples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Analysis · Sentiment vs Platform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3035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68680"/>
            <a:ext cx="29260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Insights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508760"/>
            <a:ext cx="26517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1508760"/>
            <a:ext cx="91440" cy="8961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44768" y="15544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Patterns Across Platforms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44768" y="18288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Joy rank highest on Twitter, Instagram, and Facebook alike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2560320"/>
            <a:ext cx="26517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9320" y="2560320"/>
            <a:ext cx="91440" cy="896112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44768" y="260604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Slightly Higher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44768" y="28803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shows marginally more Positive &amp; Contentment posts than other platforms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611880"/>
            <a:ext cx="26517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3611880"/>
            <a:ext cx="91440" cy="89611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44768" y="36576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Has Fewest Posts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44768" y="39319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has the fewest posts overall, but the sentiment trend is consistent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Analysis · Sentiment vs Likes / Retweets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1965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965960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Likes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10–80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914400"/>
            <a:ext cx="1965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914400"/>
            <a:ext cx="1965960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14600" y="1627632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Retweets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5–40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1965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14400"/>
            <a:ext cx="1965960" cy="164592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63440" y="1627632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Likes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82880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Fairly concentrated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914400"/>
            <a:ext cx="196596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914400"/>
            <a:ext cx="1965960" cy="164592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12280" y="1627632"/>
            <a:ext cx="1965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Retweets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182880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65760" y="2286000"/>
          <a:ext cx="53035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5852160" y="2286000"/>
            <a:ext cx="292608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989320" y="2423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 Results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989320" y="2926080"/>
            <a:ext cx="109728" cy="10972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44768" y="28895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Test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144768" y="3136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Likes distribution is identical across all sentiment categories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989320" y="3547872"/>
            <a:ext cx="109728" cy="10972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44768" y="35112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6144768" y="37581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— engagement differs significantly across sentiment categories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989320" y="4169664"/>
            <a:ext cx="109728" cy="10972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44768" y="41330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144768" y="43799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is affected by follower count, posting time, and trending events — association, not causation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Topics &amp; Geographic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1605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Hashtags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61872"/>
          <a:ext cx="4160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709160" y="868680"/>
            <a:ext cx="40690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46320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 · Country × Sentiment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00600" y="1444752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19472" y="14904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USA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80760" y="14904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posts; positive sentiment dominates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2112264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19472" y="215798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UK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80760" y="21579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 is relatively balanced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779776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19472" y="28254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India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80760" y="28254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&amp; Excitement are proportionally high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00600" y="3447288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919472" y="34930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🇨🇦 Canada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080760" y="34930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&amp; Contentment stand out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4114800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919472" y="41605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🇦🇺 Australia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080760" y="41605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proportion of positive sentiment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00600" y="47823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(Country × Sentiment): p &lt; 0.05 — sentiment distributions differ by country (exploratory finding)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2514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Classification &amp; Engagement Prediction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77640" y="329184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0" y="3291840"/>
            <a:ext cx="164592" cy="164592"/>
          </a:xfrm>
          <a:prstGeom prst="ellipse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3291840"/>
            <a:ext cx="164592" cy="164592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Classification Models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920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920240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04288" y="1463040"/>
            <a:ext cx="18288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960120"/>
            <a:ext cx="1920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960120"/>
            <a:ext cx="1920240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17043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(max_features=5000)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53128" y="1463040"/>
            <a:ext cx="18288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960120"/>
            <a:ext cx="1920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1920240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7043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Linear SVM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01968" y="1463040"/>
            <a:ext cx="18288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960120"/>
            <a:ext cx="1920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960120"/>
            <a:ext cx="1920240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17043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Prediction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 (Top 20 sentiments, 80/20 split, stratified)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8412480" cy="13716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  <a:gridCol w="137160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SVM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6C5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dataset is small (~711 posts) and some sentiment classes have few samples, so macro-F1 may be unstable. Linear SVM typically outperforms LR on text classification; treat results as an exploratory baseline.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Prediction Model (Random Forest)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023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62456"/>
            <a:ext cx="91440" cy="91440"/>
          </a:xfrm>
          <a:prstGeom prst="ellipse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35024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(One-Hot Encoding)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609344"/>
            <a:ext cx="91440" cy="91440"/>
          </a:xfrm>
          <a:prstGeom prst="ellipse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581912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(One-Hot Encoding)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856232"/>
            <a:ext cx="91440" cy="91440"/>
          </a:xfrm>
          <a:prstGeom prst="ellipse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28800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hashtag_count (number of hashtags)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103120"/>
            <a:ext cx="91440" cy="91440"/>
          </a:xfrm>
          <a:prstGeom prst="ellipse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075688"/>
            <a:ext cx="3611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log(1+Likes) and log(1+Retweets)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868680"/>
            <a:ext cx="42062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9601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(300 trees, random_state=42)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1371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Prediction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≈ 0.68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236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0.12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1874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Retweets Prediction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≈ 0.45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5236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0.10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65760" y="2331720"/>
          <a:ext cx="50292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5577840" y="2331720"/>
            <a:ext cx="320040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715000" y="24505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577840" y="2834640"/>
            <a:ext cx="91440" cy="45720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15000" y="28529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hashtag_count is Most Important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715000" y="3081528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count is the strongest predictor of Likes, linked to post discoverability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77840" y="3355848"/>
            <a:ext cx="91440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15000" y="337413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Categories Contribute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715000" y="3602736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and Positive posts show stronger engagement signals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577840" y="3877056"/>
            <a:ext cx="91440" cy="4572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15000" y="389534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 Matter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715000" y="412394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and Instagram exhibit different engagement patterns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577840" y="4398264"/>
            <a:ext cx="91440" cy="4572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15000" y="441655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R² (~0.10–0.12)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715000" y="4645152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key variables (follower count, posting time) — results are exploratory baselines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Hypothesis Tests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37160" cy="11430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 Varies by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3533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Method: Chi-square Test (Platform × Sentiment)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627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distributions differ statistically across platforms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4960" y="1097280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94960" y="1097280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Reject H₀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78040" y="1097280"/>
            <a:ext cx="1417320" cy="621792"/>
          </a:xfrm>
          <a:prstGeom prst="rect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09728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2258568"/>
            <a:ext cx="8412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58568"/>
            <a:ext cx="137160" cy="114300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04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3042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Category Affects Engagement (Likes)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Method: Kruskal-Wallis Test (Sentiment → Likes)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926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association between sentiment and Likes — correlation ≠ causation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94960" y="239572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239572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Reject H₀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78040" y="2395728"/>
            <a:ext cx="1417320" cy="621792"/>
          </a:xfrm>
          <a:prstGeom prst="rect">
            <a:avLst/>
          </a:prstGeom>
          <a:solidFill>
            <a:srgbClr val="56C596">
              <a:alpha val="15000"/>
            </a:srgbClr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239572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6C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" y="3557016"/>
            <a:ext cx="8412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57016"/>
            <a:ext cx="137160" cy="11430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6027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3602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 Varies by Country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950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Method: Chi-square Test (Country × Sentiment)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4224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contingency table limits reliability — treat as exploratory evidence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94960" y="3694176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94960" y="3694176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Reject H₀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78040" y="3694176"/>
            <a:ext cx="1417320" cy="621792"/>
          </a:xfrm>
          <a:prstGeom prst="rect">
            <a:avLst/>
          </a:prstGeom>
          <a:solidFill>
            <a:srgbClr val="F9A825">
              <a:alpha val="15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3694176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457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0233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023360" cy="384048"/>
          </a:xfrm>
          <a:prstGeom prst="rect">
            <a:avLst/>
          </a:prstGeom>
          <a:solidFill>
            <a:srgbClr val="EF5350">
              <a:alpha val="85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91440" cy="320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258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(711 posts) limits model evaluation reliability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91440" cy="320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288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sentiment classes have very few samples — macro-F1 is unstable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91440" cy="320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317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may not be balanced across countries, platforms, or time periods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91440" cy="320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346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labels may contain noise or subjective bias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91440" cy="320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3375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data lacks key covariates (follower count, posting time)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840480"/>
            <a:ext cx="91440" cy="320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8404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to Top 20 sentiments sacrifices emotional granularity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868680"/>
            <a:ext cx="4206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868680"/>
            <a:ext cx="4206240" cy="384048"/>
          </a:xfrm>
          <a:prstGeom prst="rect">
            <a:avLst/>
          </a:prstGeom>
          <a:solidFill>
            <a:srgbClr val="56C596">
              <a:alpha val="85000"/>
            </a:srgbClr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868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Work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1325880"/>
            <a:ext cx="91440" cy="32004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3258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BERT / RoBERTa for stronger sentiment classification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828800"/>
            <a:ext cx="91440" cy="32004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user-level features (follower count) and temporal features (posting hour)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331720"/>
            <a:ext cx="91440" cy="32004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3317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LDA / BERTopic for topic modeling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834640"/>
            <a:ext cx="91440" cy="32004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8346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dataset with greater platform and country diversity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337560"/>
            <a:ext cx="91440" cy="32004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337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causal inference methods to separate correlation from causation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840480"/>
            <a:ext cx="91440" cy="32004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8404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multimodal data (images, videos)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4114800" cy="4572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206240" cy="114300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D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09728" cy="11430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972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Sentiment Distribution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444752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Joy dominate across all three platforms — overall tone is clearly positive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4206240" cy="114300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D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04288"/>
            <a:ext cx="109728" cy="1143000"/>
          </a:xfrm>
          <a:prstGeom prst="rect">
            <a:avLst/>
          </a:prstGeom>
          <a:solidFill>
            <a:srgbClr val="56C596"/>
          </a:solidFill>
          <a:ln w="12700">
            <a:solidFill>
              <a:srgbClr val="56C5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957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Engagement Patterns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274320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differ significantly across sentiment categories; hashtag count is the strongest engagement predictor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02736"/>
            <a:ext cx="4206240" cy="114300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D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602736"/>
            <a:ext cx="109728" cy="11430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69417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Classification Performance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404164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Linear SVM is the best baseline at ~65% accuracy — reasonable given the dataset size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005840"/>
            <a:ext cx="4206240" cy="114300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D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005840"/>
            <a:ext cx="109728" cy="11430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10972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Geographic Differences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01768" y="1444752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distributions vary by country (p&lt;0.05), but sparse samples require cautious interpretation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304288"/>
            <a:ext cx="4206240" cy="1143000"/>
          </a:xfrm>
          <a:prstGeom prst="rect">
            <a:avLst/>
          </a:prstGeom>
          <a:solidFill>
            <a:srgbClr val="243055"/>
          </a:solidFill>
          <a:ln w="12700">
            <a:solidFill>
              <a:srgbClr val="2E3D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304288"/>
            <a:ext cx="109728" cy="114300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3957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Future Directions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01768" y="274320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Incorporating BERT, user features, and causal inference can substantially improve model power and interpretability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Sentiment Analysis &amp; Engagement Prediction  |  Dataset: 711 posts · Twitter · Instagram · Facebook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Sentiment Analysis &amp; Engagement Prediction</dc:title>
  <dc:subject>PptxGenJS Presentation</dc:subject>
  <dc:creator>PptxGenJS</dc:creator>
  <cp:lastModifiedBy>PptxGenJS</cp:lastModifiedBy>
  <cp:revision>1</cp:revision>
  <dcterms:created xsi:type="dcterms:W3CDTF">2026-05-11T20:25:47Z</dcterms:created>
  <dcterms:modified xsi:type="dcterms:W3CDTF">2026-05-11T20:25:47Z</dcterms:modified>
</cp:coreProperties>
</file>