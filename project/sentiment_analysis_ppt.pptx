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190819-1FCB-4DE6-B467-E51F46D3E83C}">
  <a:tblStyle styleId="{C0190819-1FCB-4DE6-B467-E51F46D3E83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4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669275" y="5"/>
            <a:ext cx="3474600" cy="2926200"/>
          </a:xfrm>
          <a:prstGeom prst="rect">
            <a:avLst/>
          </a:prstGeom>
          <a:solidFill>
            <a:srgbClr val="243055"/>
          </a:solidFill>
          <a:ln cap="flat" cmpd="sng" w="12700">
            <a:solidFill>
              <a:srgbClr val="2E3D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Social Media Sentiment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Analysis &amp; Engagement Prediction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1920240"/>
            <a:ext cx="5029200" cy="4572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57200" y="21031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C5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6C596"/>
                </a:solidFill>
                <a:latin typeface="Calibri"/>
                <a:ea typeface="Calibri"/>
                <a:cs typeface="Calibri"/>
                <a:sym typeface="Calibri"/>
              </a:rPr>
              <a:t>Dataset: </a:t>
            </a:r>
            <a:r>
              <a:rPr b="0" i="0" lang="en-US" sz="1300" u="none" cap="none" strike="noStrike">
                <a:solidFill>
                  <a:srgbClr val="C5D0E0"/>
                </a:solidFill>
                <a:latin typeface="Calibri"/>
                <a:ea typeface="Calibri"/>
                <a:cs typeface="Calibri"/>
                <a:sym typeface="Calibri"/>
              </a:rPr>
              <a:t>Social Media Sentiment Analysis Dataset  |  711 posts  |  Twitter, Instagram, Facebook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2697480"/>
            <a:ext cx="128016" cy="128016"/>
          </a:xfrm>
          <a:prstGeom prst="ellipse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658368" y="2660904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0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5D0E0"/>
                </a:solidFill>
                <a:latin typeface="Calibri"/>
                <a:ea typeface="Calibri"/>
                <a:cs typeface="Calibri"/>
                <a:sym typeface="Calibri"/>
              </a:rPr>
              <a:t>Sentiment distribution &amp; temporal trends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57200" y="3127248"/>
            <a:ext cx="128016" cy="128016"/>
          </a:xfrm>
          <a:prstGeom prst="ellipse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658368" y="309067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0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5D0E0"/>
                </a:solidFill>
                <a:latin typeface="Calibri"/>
                <a:ea typeface="Calibri"/>
                <a:cs typeface="Calibri"/>
                <a:sym typeface="Calibri"/>
              </a:rPr>
              <a:t>Engagement (Likes / Retweets)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57200" y="3557016"/>
            <a:ext cx="128016" cy="128016"/>
          </a:xfrm>
          <a:prstGeom prst="ellipse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658368" y="3520440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0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5D0E0"/>
                </a:solidFill>
                <a:latin typeface="Calibri"/>
                <a:ea typeface="Calibri"/>
                <a:cs typeface="Calibri"/>
                <a:sym typeface="Calibri"/>
              </a:rPr>
              <a:t>Classification models: Logistic Regression &amp; SVM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57200" y="3986784"/>
            <a:ext cx="128016" cy="128016"/>
          </a:xfrm>
          <a:prstGeom prst="ellipse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658368" y="3950208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0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5D0E0"/>
                </a:solidFill>
                <a:latin typeface="Calibri"/>
                <a:ea typeface="Calibri"/>
                <a:cs typeface="Calibri"/>
                <a:sym typeface="Calibri"/>
              </a:rPr>
              <a:t>Engagement prediction: Random Forest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Project Goals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57200" y="1005840"/>
            <a:ext cx="4069080" cy="105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57200" y="1005840"/>
            <a:ext cx="109728" cy="105156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658368" y="109728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① Sentiment Distribution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58368" y="1444752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Understand sentiment distribution patterns across platforms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7200" y="2240280"/>
            <a:ext cx="4069080" cy="105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457200" y="2240280"/>
            <a:ext cx="109728" cy="1051560"/>
          </a:xfrm>
          <a:prstGeom prst="rect">
            <a:avLst/>
          </a:prstGeom>
          <a:solidFill>
            <a:srgbClr val="56C596"/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658368" y="233172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② Temporal Trends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58368" y="2679192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Analyze how sentiment evolves over time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7200" y="3474720"/>
            <a:ext cx="4069080" cy="105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457200" y="3474720"/>
            <a:ext cx="109728" cy="1051560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658368" y="356616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③ Engagement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58368" y="3913632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Study the relationship between Likes/Retweets and sentiment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800600" y="1005840"/>
            <a:ext cx="4069080" cy="105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800600" y="1005840"/>
            <a:ext cx="109728" cy="1051560"/>
          </a:xfrm>
          <a:prstGeom prst="rect">
            <a:avLst/>
          </a:prstGeom>
          <a:solidFill>
            <a:srgbClr val="EF5350"/>
          </a:solidFill>
          <a:ln cap="flat" cmpd="sng" w="12700">
            <a:solidFill>
              <a:srgbClr val="EF5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5001768" y="109728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④ Topic Mining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001768" y="1444752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Identify trending hashtags and their sentiment/engagement patterns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800600" y="2240280"/>
            <a:ext cx="4069080" cy="105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800600" y="2240280"/>
            <a:ext cx="109728" cy="1051560"/>
          </a:xfrm>
          <a:prstGeom prst="rect">
            <a:avLst/>
          </a:prstGeom>
          <a:solidFill>
            <a:srgbClr val="9C27B0"/>
          </a:solidFill>
          <a:ln cap="flat" cmpd="sng" w="12700">
            <a:solidFill>
              <a:srgbClr val="9C2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5001768" y="233172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⑤ Geographic Differences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001768" y="2679192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Examine sentiment distribution differences across countries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800600" y="3474720"/>
            <a:ext cx="4069080" cy="105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800600" y="3474720"/>
            <a:ext cx="109728" cy="105156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5001768" y="356616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⑥ Engagement Prediction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001768" y="3913632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Predict post engagement based on sentiment, topic, and platform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365760" y="960120"/>
            <a:ext cx="1965960" cy="132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365760" y="960120"/>
            <a:ext cx="1965960" cy="20116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457200" y="1188720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711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11480" y="1755648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Total Posts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2514600" y="960120"/>
            <a:ext cx="1965960" cy="132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2514600" y="960120"/>
            <a:ext cx="1965960" cy="201168"/>
          </a:xfrm>
          <a:prstGeom prst="rect">
            <a:avLst/>
          </a:prstGeom>
          <a:solidFill>
            <a:srgbClr val="56C596"/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2606040" y="1188720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C596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56C59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2560320" y="1755648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Platforms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663440" y="960120"/>
            <a:ext cx="1965960" cy="132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4663440" y="960120"/>
            <a:ext cx="1965960" cy="201168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754880" y="1188720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20+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709160" y="1755648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Sentiment Types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6812280" y="960120"/>
            <a:ext cx="1965960" cy="132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6812280" y="960120"/>
            <a:ext cx="1965960" cy="201168"/>
          </a:xfrm>
          <a:prstGeom prst="rect">
            <a:avLst/>
          </a:prstGeom>
          <a:solidFill>
            <a:srgbClr val="EF5350"/>
          </a:solidFill>
          <a:ln cap="flat" cmpd="sng" w="12700">
            <a:solidFill>
              <a:srgbClr val="EF5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6903720" y="1188720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858000" y="1755648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Data Fields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65760" y="2478512"/>
            <a:ext cx="8412600" cy="242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502920" y="254203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Field Descriptions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02920" y="3008376"/>
            <a:ext cx="82296" cy="82296"/>
          </a:xfrm>
          <a:prstGeom prst="ellipse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649224" y="2944368"/>
            <a:ext cx="10972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1737360" y="2944368"/>
            <a:ext cx="2606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Raw post 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02920" y="3255264"/>
            <a:ext cx="82296" cy="82296"/>
          </a:xfrm>
          <a:prstGeom prst="ellipse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649224" y="3191256"/>
            <a:ext cx="10972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Sentiment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737349" y="3191250"/>
            <a:ext cx="2857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Sentiment label (Positive, Joy, Excitement…)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02920" y="3543289"/>
            <a:ext cx="82200" cy="82200"/>
          </a:xfrm>
          <a:prstGeom prst="ellipse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649224" y="3465582"/>
            <a:ext cx="10974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Platform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1737350" y="3551425"/>
            <a:ext cx="26061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Publishing platform (Twitter / Instagram / Facebook)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02920" y="3946899"/>
            <a:ext cx="82200" cy="82200"/>
          </a:xfrm>
          <a:prstGeom prst="ellipse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49225" y="3855484"/>
            <a:ext cx="1591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Likes/</a:t>
            </a:r>
            <a:endParaRPr b="1" i="0" sz="1100" u="none" cap="none" strike="noStrike">
              <a:solidFill>
                <a:srgbClr val="1A234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Retweets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737360" y="3910641"/>
            <a:ext cx="2606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Engagement counts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709160" y="3008376"/>
            <a:ext cx="82296" cy="82296"/>
          </a:xfrm>
          <a:prstGeom prst="ellipse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4855464" y="2944368"/>
            <a:ext cx="10972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Timestamp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943600" y="2944368"/>
            <a:ext cx="2606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Post timestamp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709160" y="3255264"/>
            <a:ext cx="82296" cy="82296"/>
          </a:xfrm>
          <a:prstGeom prst="ellipse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4855464" y="3191256"/>
            <a:ext cx="10972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Country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943600" y="3191256"/>
            <a:ext cx="2606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Publishing country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709160" y="3502152"/>
            <a:ext cx="82296" cy="82296"/>
          </a:xfrm>
          <a:prstGeom prst="ellipse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4855464" y="3438144"/>
            <a:ext cx="10972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Hashtags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943600" y="3438144"/>
            <a:ext cx="2606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Topic hashtags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709160" y="3835728"/>
            <a:ext cx="82200" cy="82200"/>
          </a:xfrm>
          <a:prstGeom prst="ellipse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4855464" y="3771720"/>
            <a:ext cx="10974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Consolas"/>
                <a:ea typeface="Consolas"/>
                <a:cs typeface="Consolas"/>
                <a:sym typeface="Consolas"/>
              </a:rPr>
              <a:t>clean_text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943600" y="3771720"/>
            <a:ext cx="2606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Cleaned text (URLs and @mentions removed)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Data Cleaning &amp; Preprocessing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56C596"/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365760" y="960120"/>
            <a:ext cx="4160520" cy="11704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4251960" y="960120"/>
            <a:ext cx="274320" cy="1170432"/>
          </a:xfrm>
          <a:prstGeom prst="rect">
            <a:avLst/>
          </a:prstGeom>
          <a:solidFill>
            <a:srgbClr val="56C596">
              <a:alpha val="30196"/>
            </a:srgbClr>
          </a:solidFill>
          <a:ln cap="flat" cmpd="sng" w="12700">
            <a:solidFill>
              <a:srgbClr val="56C59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75488" y="1051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C59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56C596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1005840" y="105156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Remove Redundant Index Columns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005840" y="1417320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Drop Unnamed columns from CSV exports and standardize column names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65760" y="2286000"/>
            <a:ext cx="4160520" cy="11704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4251960" y="2286000"/>
            <a:ext cx="274320" cy="1170432"/>
          </a:xfrm>
          <a:prstGeom prst="rect">
            <a:avLst/>
          </a:prstGeom>
          <a:solidFill>
            <a:srgbClr val="56C596">
              <a:alpha val="30196"/>
            </a:srgbClr>
          </a:solidFill>
          <a:ln cap="flat" cmpd="sng" w="12700">
            <a:solidFill>
              <a:srgbClr val="56C59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475488" y="2377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C59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56C59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005840" y="237744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Normalize Categorical Fields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005840" y="2743200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Strip whitespace from Platform/Sentiment/Country to avoid treating identical values as different categories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365760" y="3611880"/>
            <a:ext cx="4160520" cy="11704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4251960" y="3611880"/>
            <a:ext cx="274320" cy="1170432"/>
          </a:xfrm>
          <a:prstGeom prst="rect">
            <a:avLst/>
          </a:prstGeom>
          <a:solidFill>
            <a:srgbClr val="56C596">
              <a:alpha val="30196"/>
            </a:srgbClr>
          </a:solidFill>
          <a:ln cap="flat" cmpd="sng" w="12700">
            <a:solidFill>
              <a:srgbClr val="56C59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475488" y="37033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C59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56C59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005840" y="370332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Convert Numeric Fields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1005840" y="4069080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Cast Likes/Retweets to numeric (coerce errors) and Timestamp to datetime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754880" y="960120"/>
            <a:ext cx="4160520" cy="11704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8641080" y="960120"/>
            <a:ext cx="274320" cy="1170432"/>
          </a:xfrm>
          <a:prstGeom prst="rect">
            <a:avLst/>
          </a:prstGeom>
          <a:solidFill>
            <a:srgbClr val="56C596">
              <a:alpha val="30196"/>
            </a:srgbClr>
          </a:solidFill>
          <a:ln cap="flat" cmpd="sng" w="12700">
            <a:solidFill>
              <a:srgbClr val="56C59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4864608" y="1051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C59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56C596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394960" y="105156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Deduplicate &amp; Drop Missing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394960" y="1417320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Remove duplicate rows and rows missing Text, Sentiment, Platform, Timestamp, Likes, or Retweets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754880" y="2286000"/>
            <a:ext cx="4160520" cy="11704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8641080" y="2286000"/>
            <a:ext cx="274320" cy="1170432"/>
          </a:xfrm>
          <a:prstGeom prst="rect">
            <a:avLst/>
          </a:prstGeom>
          <a:solidFill>
            <a:srgbClr val="56C596">
              <a:alpha val="30196"/>
            </a:srgbClr>
          </a:solidFill>
          <a:ln cap="flat" cmpd="sng" w="12700">
            <a:solidFill>
              <a:srgbClr val="56C59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4864608" y="2377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C59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56C596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394960" y="237744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Filter Invalid Engagement Values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394960" y="2743200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Keep only records with Likes ≥ 0 and Retweets ≥ 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754880" y="3611880"/>
            <a:ext cx="4160520" cy="11704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8641080" y="3611880"/>
            <a:ext cx="274320" cy="1170432"/>
          </a:xfrm>
          <a:prstGeom prst="rect">
            <a:avLst/>
          </a:prstGeom>
          <a:solidFill>
            <a:srgbClr val="56C596">
              <a:alpha val="30196"/>
            </a:srgbClr>
          </a:solidFill>
          <a:ln cap="flat" cmpd="sng" w="12700">
            <a:solidFill>
              <a:srgbClr val="56C59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4864608" y="37033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C59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56C596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394960" y="370332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Text Cleaning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394960" y="4069080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Lowercase → remove URLs → remove @mentions → normalize whitespace → keep hashtags for topic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40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Exploratory Data Analysis (EDA)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914400" y="25146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977640" y="3291840"/>
            <a:ext cx="164592" cy="164592"/>
          </a:xfrm>
          <a:prstGeom prst="ellipse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4297680" y="3291840"/>
            <a:ext cx="164592" cy="164592"/>
          </a:xfrm>
          <a:prstGeom prst="ellipse">
            <a:avLst/>
          </a:prstGeom>
          <a:solidFill>
            <a:srgbClr val="56C596"/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4617720" y="3291840"/>
            <a:ext cx="164592" cy="164592"/>
          </a:xfrm>
          <a:prstGeom prst="ellipse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Sentiment Distribution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868680"/>
            <a:ext cx="5669280" cy="39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/>
          <p:nvPr/>
        </p:nvSpPr>
        <p:spPr>
          <a:xfrm>
            <a:off x="6217920" y="868680"/>
            <a:ext cx="2560320" cy="3977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6355080" y="1005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6217920" y="1490472"/>
            <a:ext cx="91440" cy="54864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6373368" y="149047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Positive &amp; Joy Lead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6373368" y="176479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Top two categories — overall tone is positive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217920" y="2249424"/>
            <a:ext cx="91440" cy="548640"/>
          </a:xfrm>
          <a:prstGeom prst="rect">
            <a:avLst/>
          </a:prstGeom>
          <a:solidFill>
            <a:srgbClr val="56C596"/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6373368" y="224942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Excitement Ranks 3rd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373368" y="252374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37 posts expressing excitement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6217920" y="3008376"/>
            <a:ext cx="91440" cy="548640"/>
          </a:xfrm>
          <a:prstGeom prst="rect">
            <a:avLst/>
          </a:prstGeom>
          <a:solidFill>
            <a:srgbClr val="8896AA"/>
          </a:solidFill>
          <a:ln cap="flat" cmpd="sng" w="12700">
            <a:solidFill>
              <a:srgbClr val="8896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6373368" y="300837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Negative Sentiment is Rare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373368" y="328269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Despair, Anger and similar categories are underrepresented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6217920" y="3767328"/>
            <a:ext cx="91440" cy="548640"/>
          </a:xfrm>
          <a:prstGeom prst="rect">
            <a:avLst/>
          </a:prstGeom>
          <a:solidFill>
            <a:srgbClr val="EF5350"/>
          </a:solidFill>
          <a:ln cap="flat" cmpd="sng" w="12700">
            <a:solidFill>
              <a:srgbClr val="EF5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6373368" y="37673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20+ Sentiment Labels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373368" y="404164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Rich taxonomy, but some classes have very few samples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Platform Analysis · Sentiment vs Platform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868680"/>
            <a:ext cx="5303520" cy="39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9"/>
          <p:cNvSpPr/>
          <p:nvPr/>
        </p:nvSpPr>
        <p:spPr>
          <a:xfrm>
            <a:off x="5852160" y="868680"/>
            <a:ext cx="2926080" cy="3977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5989320" y="100584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Platform Insights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5989320" y="1508760"/>
            <a:ext cx="2651760" cy="8961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5989320" y="1508760"/>
            <a:ext cx="91440" cy="896112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6144768" y="155448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Similar Patterns Across Platforms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144768" y="182880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Positive and Joy rank highest on Twitter, Instagram, and Facebook alike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5989320" y="2560320"/>
            <a:ext cx="2651760" cy="8961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5989320" y="2560320"/>
            <a:ext cx="91440" cy="896112"/>
          </a:xfrm>
          <a:prstGeom prst="rect">
            <a:avLst/>
          </a:prstGeom>
          <a:solidFill>
            <a:srgbClr val="56C596"/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6144768" y="260604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Instagram Slightly Higher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6144768" y="288036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Instagram shows marginally more Positive &amp; Contentment posts than other platforms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989320" y="3611880"/>
            <a:ext cx="2651760" cy="8961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5989320" y="3611880"/>
            <a:ext cx="91440" cy="896112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6144768" y="36576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Facebook Has Fewest Posts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6144768" y="393192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Facebook has the fewest posts overall, but the sentiment trend is consistent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3000"/>
              <a:buFont typeface="Calibri"/>
              <a:buNone/>
            </a:pPr>
            <a:r>
              <a:rPr b="1" i="0" lang="en-US" sz="28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Engagement Analysis · Sentiment vs Likes / Retweets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457200" y="721888"/>
            <a:ext cx="8229600" cy="45600"/>
          </a:xfrm>
          <a:prstGeom prst="rect">
            <a:avLst/>
          </a:prstGeom>
          <a:solidFill>
            <a:srgbClr val="EF5350"/>
          </a:solidFill>
          <a:ln cap="flat" cmpd="sng" w="12700">
            <a:solidFill>
              <a:srgbClr val="EF5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365760" y="933664"/>
            <a:ext cx="1965900" cy="1170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365760" y="933664"/>
            <a:ext cx="1965900" cy="16470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365760" y="1116544"/>
            <a:ext cx="1965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42.9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365760" y="1646896"/>
            <a:ext cx="1965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Avg Likes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365760" y="1848064"/>
            <a:ext cx="1965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6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6AA"/>
                </a:solidFill>
                <a:latin typeface="Calibri"/>
                <a:ea typeface="Calibri"/>
                <a:cs typeface="Calibri"/>
                <a:sym typeface="Calibri"/>
              </a:rPr>
              <a:t>Range: 10–80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2514600" y="933664"/>
            <a:ext cx="1965900" cy="1170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2514600" y="933664"/>
            <a:ext cx="1965900" cy="16470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2514600" y="1116544"/>
            <a:ext cx="1965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21.5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2514600" y="1646896"/>
            <a:ext cx="1965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Avg Retweets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2514600" y="1848064"/>
            <a:ext cx="1965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6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6AA"/>
                </a:solidFill>
                <a:latin typeface="Calibri"/>
                <a:ea typeface="Calibri"/>
                <a:cs typeface="Calibri"/>
                <a:sym typeface="Calibri"/>
              </a:rPr>
              <a:t>Range: 5–40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4663440" y="933664"/>
            <a:ext cx="1965900" cy="1170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4663440" y="933664"/>
            <a:ext cx="1965900" cy="164700"/>
          </a:xfrm>
          <a:prstGeom prst="rect">
            <a:avLst/>
          </a:prstGeom>
          <a:solidFill>
            <a:srgbClr val="56C596"/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4663440" y="1116544"/>
            <a:ext cx="1965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C596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56C596"/>
                </a:solidFill>
                <a:latin typeface="Calibri"/>
                <a:ea typeface="Calibri"/>
                <a:cs typeface="Calibri"/>
                <a:sym typeface="Calibri"/>
              </a:rPr>
              <a:t>43.0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4663440" y="1646896"/>
            <a:ext cx="1965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Median Likes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4663440" y="1848064"/>
            <a:ext cx="1965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6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6AA"/>
                </a:solidFill>
                <a:latin typeface="Calibri"/>
                <a:ea typeface="Calibri"/>
                <a:cs typeface="Calibri"/>
                <a:sym typeface="Calibri"/>
              </a:rPr>
              <a:t>Fairly concentrated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6812280" y="933664"/>
            <a:ext cx="1965900" cy="1170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6812280" y="933664"/>
            <a:ext cx="1965900" cy="164700"/>
          </a:xfrm>
          <a:prstGeom prst="rect">
            <a:avLst/>
          </a:prstGeom>
          <a:solidFill>
            <a:srgbClr val="56C596"/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6812280" y="1116544"/>
            <a:ext cx="1965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C596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56C596"/>
                </a:solidFill>
                <a:latin typeface="Calibri"/>
                <a:ea typeface="Calibri"/>
                <a:cs typeface="Calibri"/>
                <a:sym typeface="Calibri"/>
              </a:rPr>
              <a:t>22.0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6812280" y="1646896"/>
            <a:ext cx="1965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Median Retweets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6812280" y="1848064"/>
            <a:ext cx="1965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6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6AA"/>
                </a:solidFill>
                <a:latin typeface="Calibri"/>
                <a:ea typeface="Calibri"/>
                <a:cs typeface="Calibri"/>
                <a:sym typeface="Calibri"/>
              </a:rPr>
              <a:t>Low variance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5852160" y="2286000"/>
            <a:ext cx="2926080" cy="2606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5989320" y="242316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Statistical Test Results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5989320" y="2926080"/>
            <a:ext cx="109728" cy="109728"/>
          </a:xfrm>
          <a:prstGeom prst="ellipse">
            <a:avLst/>
          </a:prstGeom>
          <a:solidFill>
            <a:srgbClr val="EF5350"/>
          </a:solidFill>
          <a:ln cap="flat" cmpd="sng" w="12700">
            <a:solidFill>
              <a:srgbClr val="EF5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6144768" y="2850976"/>
            <a:ext cx="256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Kruskal-Wallis Test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6144768" y="3097864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H₀: Likes distribution is identical across all sentiment categories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5989320" y="3547872"/>
            <a:ext cx="109728" cy="109728"/>
          </a:xfrm>
          <a:prstGeom prst="ellipse">
            <a:avLst/>
          </a:prstGeom>
          <a:solidFill>
            <a:srgbClr val="EF5350"/>
          </a:solidFill>
          <a:ln cap="flat" cmpd="sng" w="12700">
            <a:solidFill>
              <a:srgbClr val="EF5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6144768" y="3472768"/>
            <a:ext cx="256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p &lt; 0.05 → Reject H₀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6144768" y="3719656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Reject H₀ — engagement differs significantly across sentiment categories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5989320" y="4169664"/>
            <a:ext cx="109728" cy="109728"/>
          </a:xfrm>
          <a:prstGeom prst="ellipse">
            <a:avLst/>
          </a:prstGeom>
          <a:solidFill>
            <a:srgbClr val="EF5350"/>
          </a:solidFill>
          <a:ln cap="flat" cmpd="sng" w="12700">
            <a:solidFill>
              <a:srgbClr val="EF5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6144768" y="4094560"/>
            <a:ext cx="256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Caveat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6144768" y="4341448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Engagement is affected by follower count, posting time, and trending events — association, not causation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13903"/>
            <a:ext cx="4757699" cy="276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Trending Topics &amp; Geographic Analysis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9C27B0"/>
          </a:solidFill>
          <a:ln cap="flat" cmpd="sng" w="12700">
            <a:solidFill>
              <a:srgbClr val="9C2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365760" y="868680"/>
            <a:ext cx="4160520" cy="3977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502920" y="9601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Top 10 Hashtags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261872"/>
            <a:ext cx="416052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/>
          <p:nvPr/>
        </p:nvSpPr>
        <p:spPr>
          <a:xfrm>
            <a:off x="4709160" y="868680"/>
            <a:ext cx="4069080" cy="3977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4846320" y="96012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Geographic Distribution · Country × Sentiment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4800600" y="1444752"/>
            <a:ext cx="384048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4919472" y="1490472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🇺🇸 USA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6080760" y="1490472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Most posts; positive sentiment dominates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4800600" y="2112264"/>
            <a:ext cx="384048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4919472" y="2157984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🇬🇧 UK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6080760" y="2157984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Sentiment distribution is relatively balanced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4800600" y="2779776"/>
            <a:ext cx="384048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4919472" y="2825496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🇮🇳 India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6080760" y="2825496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Joy &amp; Excitement are proportionally high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4800600" y="3447288"/>
            <a:ext cx="384048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4919472" y="349300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🇨🇦 Canada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6080760" y="349300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Positive &amp; Contentment stand 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4800600" y="4114800"/>
            <a:ext cx="384048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4919472" y="416052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🇦🇺 Australia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6080760" y="416052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High proportion of positive sentiment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4800600" y="4782312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A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896AA"/>
                </a:solidFill>
                <a:latin typeface="Calibri"/>
                <a:ea typeface="Calibri"/>
                <a:cs typeface="Calibri"/>
                <a:sym typeface="Calibri"/>
              </a:rPr>
              <a:t>Chi-square test (Country × Sentiment): p &lt; 0.05 — sentiment distributions differ by country (exploratory finding)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40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Models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914400" y="25146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Sentiment Classification &amp; Engagement Prediction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3977640" y="3291840"/>
            <a:ext cx="164592" cy="164592"/>
          </a:xfrm>
          <a:prstGeom prst="ellipse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4297680" y="3291840"/>
            <a:ext cx="164592" cy="164592"/>
          </a:xfrm>
          <a:prstGeom prst="ellipse">
            <a:avLst/>
          </a:prstGeom>
          <a:solidFill>
            <a:srgbClr val="56C596"/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4617720" y="3291840"/>
            <a:ext cx="164592" cy="164592"/>
          </a:xfrm>
          <a:prstGeom prst="ellipse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Sentiment Classification Models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365760" y="960120"/>
            <a:ext cx="192024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365760" y="960120"/>
            <a:ext cx="1920240" cy="164592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457200" y="1170432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Raw Text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2304288" y="1463040"/>
            <a:ext cx="182880" cy="4572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2514600" y="960120"/>
            <a:ext cx="192024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2514600" y="960120"/>
            <a:ext cx="1920240" cy="164592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3"/>
          <p:cNvSpPr/>
          <p:nvPr/>
        </p:nvSpPr>
        <p:spPr>
          <a:xfrm>
            <a:off x="2606040" y="1170432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TF-IDF Vectorizer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(max_features=5000)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4453128" y="1463040"/>
            <a:ext cx="182880" cy="4572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4663440" y="960120"/>
            <a:ext cx="192024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4663440" y="960120"/>
            <a:ext cx="1920240" cy="164592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4754880" y="1170432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/ Linear SVM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6601968" y="1463040"/>
            <a:ext cx="182880" cy="4572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6812280" y="960120"/>
            <a:ext cx="192024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3"/>
          <p:cNvSpPr/>
          <p:nvPr/>
        </p:nvSpPr>
        <p:spPr>
          <a:xfrm>
            <a:off x="6812280" y="960120"/>
            <a:ext cx="1920240" cy="164592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6903720" y="1170432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Sentiment Prediction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Model Performance Comparison (Top 20 sentiments, 80/20 split, stratified)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1" name="Google Shape;301;p13"/>
          <p:cNvGraphicFramePr/>
          <p:nvPr/>
        </p:nvGraphicFramePr>
        <p:xfrm>
          <a:off x="365760" y="274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{C0190819-1FCB-4DE6-B467-E51F46D3E83C}</a:tableStyleId>
              </a:tblPr>
              <a:tblGrid>
                <a:gridCol w="2194550"/>
                <a:gridCol w="1371600"/>
                <a:gridCol w="1371600"/>
                <a:gridCol w="1371600"/>
                <a:gridCol w="21031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Vectorizer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Macro-F1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TF-IDF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~0.62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~0.58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C3F7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4FC3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Linear SVM ★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TF-IDF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~0.65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~0.61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6C596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56C5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Model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02" name="Google Shape;302;p13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A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896AA"/>
                </a:solidFill>
                <a:latin typeface="Calibri"/>
                <a:ea typeface="Calibri"/>
                <a:cs typeface="Calibri"/>
                <a:sym typeface="Calibri"/>
              </a:rPr>
              <a:t>Note: The dataset is small (~711 posts) and some sentiment classes have few samples, so macro-F1 may be unstable. Linear SVM typically outperforms LR on text classification; treat results as an exploratory baseline.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4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Engagement Prediction Model (Random Forest)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56C596"/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365760" y="877830"/>
            <a:ext cx="4023300" cy="132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4"/>
          <p:cNvSpPr/>
          <p:nvPr/>
        </p:nvSpPr>
        <p:spPr>
          <a:xfrm>
            <a:off x="502920" y="854168"/>
            <a:ext cx="3657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502920" y="1314296"/>
            <a:ext cx="91500" cy="91500"/>
          </a:xfrm>
          <a:prstGeom prst="ellipse">
            <a:avLst/>
          </a:prstGeom>
          <a:solidFill>
            <a:srgbClr val="56C596"/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"/>
          <p:cNvSpPr/>
          <p:nvPr/>
        </p:nvSpPr>
        <p:spPr>
          <a:xfrm>
            <a:off x="658368" y="1219440"/>
            <a:ext cx="3612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Sentiment (One-Hot Encoding)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502920" y="1561184"/>
            <a:ext cx="91500" cy="91500"/>
          </a:xfrm>
          <a:prstGeom prst="ellipse">
            <a:avLst/>
          </a:prstGeom>
          <a:solidFill>
            <a:srgbClr val="56C596"/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4"/>
          <p:cNvSpPr/>
          <p:nvPr/>
        </p:nvSpPr>
        <p:spPr>
          <a:xfrm>
            <a:off x="658368" y="1466328"/>
            <a:ext cx="3612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Platform (One-Hot Encoding)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502920" y="1808072"/>
            <a:ext cx="91500" cy="91500"/>
          </a:xfrm>
          <a:prstGeom prst="ellipse">
            <a:avLst/>
          </a:prstGeom>
          <a:solidFill>
            <a:srgbClr val="56C596"/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"/>
          <p:cNvSpPr/>
          <p:nvPr/>
        </p:nvSpPr>
        <p:spPr>
          <a:xfrm>
            <a:off x="658368" y="1713216"/>
            <a:ext cx="3612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hashtag_count (number of hashtags)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502920" y="2054960"/>
            <a:ext cx="91500" cy="91500"/>
          </a:xfrm>
          <a:prstGeom prst="ellipse">
            <a:avLst/>
          </a:prstGeom>
          <a:solidFill>
            <a:srgbClr val="56C596"/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4"/>
          <p:cNvSpPr/>
          <p:nvPr/>
        </p:nvSpPr>
        <p:spPr>
          <a:xfrm>
            <a:off x="658368" y="1960104"/>
            <a:ext cx="3612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Targets: log(1+Likes) and log(1+Retweets)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4572000" y="868680"/>
            <a:ext cx="4206240" cy="132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4"/>
          <p:cNvSpPr/>
          <p:nvPr/>
        </p:nvSpPr>
        <p:spPr>
          <a:xfrm>
            <a:off x="4709160" y="960120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Model Results (300 trees, random_state=42)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4709160" y="13716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Likes Prediction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6263640" y="137160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C5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6C596"/>
                </a:solidFill>
                <a:latin typeface="Calibri"/>
                <a:ea typeface="Calibri"/>
                <a:cs typeface="Calibri"/>
                <a:sym typeface="Calibri"/>
              </a:rPr>
              <a:t>RMSE ≈ 0.68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7452360" y="137160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R² ≈ 0.12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4709160" y="187452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Retweets Prediction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6263640" y="187452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C5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6C596"/>
                </a:solidFill>
                <a:latin typeface="Calibri"/>
                <a:ea typeface="Calibri"/>
                <a:cs typeface="Calibri"/>
                <a:sym typeface="Calibri"/>
              </a:rPr>
              <a:t>RMSE ≈ 0.45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7452360" y="187452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R² ≈ 0.10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331720"/>
            <a:ext cx="502920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4"/>
          <p:cNvSpPr/>
          <p:nvPr/>
        </p:nvSpPr>
        <p:spPr>
          <a:xfrm>
            <a:off x="5577840" y="2331720"/>
            <a:ext cx="3200400" cy="2514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4"/>
          <p:cNvSpPr/>
          <p:nvPr/>
        </p:nvSpPr>
        <p:spPr>
          <a:xfrm>
            <a:off x="5715000" y="2373536"/>
            <a:ext cx="2834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Interpretation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5577840" y="2815376"/>
            <a:ext cx="91500" cy="457200"/>
          </a:xfrm>
          <a:prstGeom prst="rect">
            <a:avLst/>
          </a:prstGeom>
          <a:solidFill>
            <a:srgbClr val="56C596"/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4"/>
          <p:cNvSpPr/>
          <p:nvPr/>
        </p:nvSpPr>
        <p:spPr>
          <a:xfrm>
            <a:off x="5715000" y="2775872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hashtag_count is Most Important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5715000" y="3004472"/>
            <a:ext cx="2926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Hashtag count is the strongest predictor of Likes, linked to post discoverability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5577840" y="3336584"/>
            <a:ext cx="91500" cy="45720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5715000" y="3297080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Sentiment Categories Contribute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5715000" y="3525680"/>
            <a:ext cx="2926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Joy and Positive posts show stronger engagement signals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5577840" y="3857792"/>
            <a:ext cx="91500" cy="457200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4"/>
          <p:cNvSpPr/>
          <p:nvPr/>
        </p:nvSpPr>
        <p:spPr>
          <a:xfrm>
            <a:off x="5715000" y="3818288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Platform Features Matter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5715000" y="4046888"/>
            <a:ext cx="2926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Twitter and Instagram exhibit different engagement patterns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5577840" y="4379000"/>
            <a:ext cx="91500" cy="457200"/>
          </a:xfrm>
          <a:prstGeom prst="rect">
            <a:avLst/>
          </a:prstGeom>
          <a:solidFill>
            <a:srgbClr val="8896AA"/>
          </a:solidFill>
          <a:ln cap="flat" cmpd="sng" w="12700">
            <a:solidFill>
              <a:srgbClr val="8896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4"/>
          <p:cNvSpPr/>
          <p:nvPr/>
        </p:nvSpPr>
        <p:spPr>
          <a:xfrm>
            <a:off x="5715000" y="4339496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Low R² (~0.10–0.12)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5715000" y="4568096"/>
            <a:ext cx="2926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Missing key variables (follower count, posting time) — results are exploratory baselines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Statistical Hypothesis Tests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5"/>
          <p:cNvSpPr/>
          <p:nvPr/>
        </p:nvSpPr>
        <p:spPr>
          <a:xfrm>
            <a:off x="365760" y="960120"/>
            <a:ext cx="841248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5"/>
          <p:cNvSpPr/>
          <p:nvPr/>
        </p:nvSpPr>
        <p:spPr>
          <a:xfrm>
            <a:off x="365760" y="960120"/>
            <a:ext cx="137160" cy="114300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5"/>
          <p:cNvSpPr/>
          <p:nvPr/>
        </p:nvSpPr>
        <p:spPr>
          <a:xfrm>
            <a:off x="594360" y="10058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H1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1051560" y="10058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Sentiment Distribution Varies by Platform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1051560" y="135331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Test Method: Chi-square Test (Platform × Sentiment)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1051560" y="16276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A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896AA"/>
                </a:solidFill>
                <a:latin typeface="Calibri"/>
                <a:ea typeface="Calibri"/>
                <a:cs typeface="Calibri"/>
                <a:sym typeface="Calibri"/>
              </a:rPr>
              <a:t>Sentiment distributions differ statistically across platforms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5394960" y="1097280"/>
            <a:ext cx="160020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5394960" y="1097280"/>
            <a:ext cx="1600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p &lt; 0.05 → Reject H₀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7178040" y="1097280"/>
            <a:ext cx="1417320" cy="621792"/>
          </a:xfrm>
          <a:prstGeom prst="rect">
            <a:avLst/>
          </a:prstGeom>
          <a:solidFill>
            <a:srgbClr val="4FC3F7">
              <a:alpha val="14901"/>
            </a:srgbClr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5"/>
          <p:cNvSpPr/>
          <p:nvPr/>
        </p:nvSpPr>
        <p:spPr>
          <a:xfrm>
            <a:off x="7178040" y="1097280"/>
            <a:ext cx="1417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Significant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365760" y="2258568"/>
            <a:ext cx="841248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365760" y="2258568"/>
            <a:ext cx="137160" cy="1143000"/>
          </a:xfrm>
          <a:prstGeom prst="rect">
            <a:avLst/>
          </a:prstGeom>
          <a:solidFill>
            <a:srgbClr val="56C596"/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594360" y="23042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C59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6C596"/>
                </a:solidFill>
                <a:latin typeface="Calibri"/>
                <a:ea typeface="Calibri"/>
                <a:cs typeface="Calibri"/>
                <a:sym typeface="Calibri"/>
              </a:rPr>
              <a:t>H2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1051560" y="230428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Sentiment Category Affects Engagement (Likes)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1051560" y="26517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Test Method: Kruskal-Wallis Test (Sentiment → Likes)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1051560" y="29260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A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896AA"/>
                </a:solidFill>
                <a:latin typeface="Calibri"/>
                <a:ea typeface="Calibri"/>
                <a:cs typeface="Calibri"/>
                <a:sym typeface="Calibri"/>
              </a:rPr>
              <a:t>Significant association between sentiment and Likes — correlation ≠ causation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5394960" y="2395728"/>
            <a:ext cx="160020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5394960" y="2395728"/>
            <a:ext cx="1600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C5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6C596"/>
                </a:solidFill>
                <a:latin typeface="Calibri"/>
                <a:ea typeface="Calibri"/>
                <a:cs typeface="Calibri"/>
                <a:sym typeface="Calibri"/>
              </a:rPr>
              <a:t>p &lt; 0.05 → Reject H₀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7178040" y="2395728"/>
            <a:ext cx="1417320" cy="621792"/>
          </a:xfrm>
          <a:prstGeom prst="rect">
            <a:avLst/>
          </a:prstGeom>
          <a:solidFill>
            <a:srgbClr val="56C596">
              <a:alpha val="14901"/>
            </a:srgbClr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5"/>
          <p:cNvSpPr/>
          <p:nvPr/>
        </p:nvSpPr>
        <p:spPr>
          <a:xfrm>
            <a:off x="7178040" y="2395728"/>
            <a:ext cx="1417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C59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6C596"/>
                </a:solidFill>
                <a:latin typeface="Calibri"/>
                <a:ea typeface="Calibri"/>
                <a:cs typeface="Calibri"/>
                <a:sym typeface="Calibri"/>
              </a:rPr>
              <a:t>Significant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365760" y="3557016"/>
            <a:ext cx="841248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365760" y="3557016"/>
            <a:ext cx="137160" cy="1143000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594360" y="3602736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H3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1051560" y="3602736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Sentiment Distribution Varies by Country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1051560" y="395020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Test Method: Chi-square Test (Country × Sentiment)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1051560" y="422452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A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896AA"/>
                </a:solidFill>
                <a:latin typeface="Calibri"/>
                <a:ea typeface="Calibri"/>
                <a:cs typeface="Calibri"/>
                <a:sym typeface="Calibri"/>
              </a:rPr>
              <a:t>Sparse contingency table limits reliability — treat as exploratory evidence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5394960" y="3694176"/>
            <a:ext cx="160020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5394960" y="3694176"/>
            <a:ext cx="1600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p &lt; 0.05 → Reject H₀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7178040" y="3694176"/>
            <a:ext cx="1417320" cy="621792"/>
          </a:xfrm>
          <a:prstGeom prst="rect">
            <a:avLst/>
          </a:prstGeom>
          <a:solidFill>
            <a:srgbClr val="F9A825">
              <a:alpha val="14901"/>
            </a:srgbClr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7178040" y="3694176"/>
            <a:ext cx="1417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Significant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6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Limitations &amp; Future Work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EF5350"/>
          </a:solidFill>
          <a:ln cap="flat" cmpd="sng" w="12700">
            <a:solidFill>
              <a:srgbClr val="EF5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6"/>
          <p:cNvSpPr/>
          <p:nvPr/>
        </p:nvSpPr>
        <p:spPr>
          <a:xfrm>
            <a:off x="365760" y="868680"/>
            <a:ext cx="4023360" cy="3977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6"/>
          <p:cNvSpPr/>
          <p:nvPr/>
        </p:nvSpPr>
        <p:spPr>
          <a:xfrm>
            <a:off x="365760" y="868680"/>
            <a:ext cx="4023360" cy="384048"/>
          </a:xfrm>
          <a:prstGeom prst="rect">
            <a:avLst/>
          </a:prstGeom>
          <a:solidFill>
            <a:srgbClr val="EF5350">
              <a:alpha val="85098"/>
            </a:srgbClr>
          </a:solidFill>
          <a:ln cap="flat" cmpd="sng" w="12700">
            <a:solidFill>
              <a:srgbClr val="EF5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6"/>
          <p:cNvSpPr/>
          <p:nvPr/>
        </p:nvSpPr>
        <p:spPr>
          <a:xfrm>
            <a:off x="502920" y="868680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Limitations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502920" y="1325880"/>
            <a:ext cx="91440" cy="320040"/>
          </a:xfrm>
          <a:prstGeom prst="rect">
            <a:avLst/>
          </a:prstGeom>
          <a:solidFill>
            <a:srgbClr val="EF5350"/>
          </a:solidFill>
          <a:ln cap="flat" cmpd="sng" w="12700">
            <a:solidFill>
              <a:srgbClr val="EF5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6"/>
          <p:cNvSpPr/>
          <p:nvPr/>
        </p:nvSpPr>
        <p:spPr>
          <a:xfrm>
            <a:off x="658368" y="132588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Small dataset (711 posts) limits model evaluation reliability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502920" y="1828800"/>
            <a:ext cx="91440" cy="320040"/>
          </a:xfrm>
          <a:prstGeom prst="rect">
            <a:avLst/>
          </a:prstGeom>
          <a:solidFill>
            <a:srgbClr val="EF5350"/>
          </a:solidFill>
          <a:ln cap="flat" cmpd="sng" w="12700">
            <a:solidFill>
              <a:srgbClr val="EF5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6"/>
          <p:cNvSpPr/>
          <p:nvPr/>
        </p:nvSpPr>
        <p:spPr>
          <a:xfrm>
            <a:off x="658368" y="182880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Some sentiment classes have very few samples — macro-F1 is unstable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502920" y="2331720"/>
            <a:ext cx="91440" cy="320040"/>
          </a:xfrm>
          <a:prstGeom prst="rect">
            <a:avLst/>
          </a:prstGeom>
          <a:solidFill>
            <a:srgbClr val="EF5350"/>
          </a:solidFill>
          <a:ln cap="flat" cmpd="sng" w="12700">
            <a:solidFill>
              <a:srgbClr val="EF5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6"/>
          <p:cNvSpPr/>
          <p:nvPr/>
        </p:nvSpPr>
        <p:spPr>
          <a:xfrm>
            <a:off x="658368" y="233172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Sampling may not be balanced across countries, platforms, or time periods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502920" y="2834640"/>
            <a:ext cx="91440" cy="320040"/>
          </a:xfrm>
          <a:prstGeom prst="rect">
            <a:avLst/>
          </a:prstGeom>
          <a:solidFill>
            <a:srgbClr val="EF5350"/>
          </a:solidFill>
          <a:ln cap="flat" cmpd="sng" w="12700">
            <a:solidFill>
              <a:srgbClr val="EF5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6"/>
          <p:cNvSpPr/>
          <p:nvPr/>
        </p:nvSpPr>
        <p:spPr>
          <a:xfrm>
            <a:off x="658368" y="283464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Sentiment labels may contain noise or subjective bias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502920" y="3337560"/>
            <a:ext cx="91440" cy="320040"/>
          </a:xfrm>
          <a:prstGeom prst="rect">
            <a:avLst/>
          </a:prstGeom>
          <a:solidFill>
            <a:srgbClr val="EF5350"/>
          </a:solidFill>
          <a:ln cap="flat" cmpd="sng" w="12700">
            <a:solidFill>
              <a:srgbClr val="EF5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6"/>
          <p:cNvSpPr/>
          <p:nvPr/>
        </p:nvSpPr>
        <p:spPr>
          <a:xfrm>
            <a:off x="658368" y="333756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Engagement data lacks key covariates (follower count, posting time)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502920" y="3840480"/>
            <a:ext cx="91440" cy="320040"/>
          </a:xfrm>
          <a:prstGeom prst="rect">
            <a:avLst/>
          </a:prstGeom>
          <a:solidFill>
            <a:srgbClr val="EF5350"/>
          </a:solidFill>
          <a:ln cap="flat" cmpd="sng" w="12700">
            <a:solidFill>
              <a:srgbClr val="EF5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6"/>
          <p:cNvSpPr/>
          <p:nvPr/>
        </p:nvSpPr>
        <p:spPr>
          <a:xfrm>
            <a:off x="658368" y="384048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Restricting to Top 20 sentiments sacrifices emotional granularity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4572000" y="868680"/>
            <a:ext cx="4206240" cy="3977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6"/>
          <p:cNvSpPr/>
          <p:nvPr/>
        </p:nvSpPr>
        <p:spPr>
          <a:xfrm>
            <a:off x="4572000" y="868680"/>
            <a:ext cx="4206240" cy="384048"/>
          </a:xfrm>
          <a:prstGeom prst="rect">
            <a:avLst/>
          </a:prstGeom>
          <a:solidFill>
            <a:srgbClr val="56C596">
              <a:alpha val="85098"/>
            </a:srgbClr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6"/>
          <p:cNvSpPr/>
          <p:nvPr/>
        </p:nvSpPr>
        <p:spPr>
          <a:xfrm>
            <a:off x="4709160" y="86868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🚀 Future 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4709160" y="1325880"/>
            <a:ext cx="91440" cy="320040"/>
          </a:xfrm>
          <a:prstGeom prst="rect">
            <a:avLst/>
          </a:prstGeom>
          <a:solidFill>
            <a:srgbClr val="56C596"/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4864608" y="1325880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Incorporate BERT / RoBERTa for stronger sentiment classification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4709160" y="1828800"/>
            <a:ext cx="91440" cy="320040"/>
          </a:xfrm>
          <a:prstGeom prst="rect">
            <a:avLst/>
          </a:prstGeom>
          <a:solidFill>
            <a:srgbClr val="56C596"/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6"/>
          <p:cNvSpPr/>
          <p:nvPr/>
        </p:nvSpPr>
        <p:spPr>
          <a:xfrm>
            <a:off x="4864608" y="1828800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Add user-level features (follower count) and temporal features (posting hour)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4709160" y="2331720"/>
            <a:ext cx="91440" cy="320040"/>
          </a:xfrm>
          <a:prstGeom prst="rect">
            <a:avLst/>
          </a:prstGeom>
          <a:solidFill>
            <a:srgbClr val="56C596"/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6"/>
          <p:cNvSpPr/>
          <p:nvPr/>
        </p:nvSpPr>
        <p:spPr>
          <a:xfrm>
            <a:off x="4864608" y="2331720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Apply LDA / BERTopic for topic modeling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4709160" y="2834640"/>
            <a:ext cx="91440" cy="320040"/>
          </a:xfrm>
          <a:prstGeom prst="rect">
            <a:avLst/>
          </a:prstGeom>
          <a:solidFill>
            <a:srgbClr val="56C596"/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6"/>
          <p:cNvSpPr/>
          <p:nvPr/>
        </p:nvSpPr>
        <p:spPr>
          <a:xfrm>
            <a:off x="4864608" y="2834640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Expand the dataset with greater platform and country diversity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4709160" y="3337560"/>
            <a:ext cx="91440" cy="320040"/>
          </a:xfrm>
          <a:prstGeom prst="rect">
            <a:avLst/>
          </a:prstGeom>
          <a:solidFill>
            <a:srgbClr val="56C596"/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6"/>
          <p:cNvSpPr/>
          <p:nvPr/>
        </p:nvSpPr>
        <p:spPr>
          <a:xfrm>
            <a:off x="4864608" y="3337560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Use causal inference methods to separate correlation from causation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4709160" y="3840480"/>
            <a:ext cx="91440" cy="320040"/>
          </a:xfrm>
          <a:prstGeom prst="rect">
            <a:avLst/>
          </a:prstGeom>
          <a:solidFill>
            <a:srgbClr val="56C596"/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6"/>
          <p:cNvSpPr/>
          <p:nvPr/>
        </p:nvSpPr>
        <p:spPr>
          <a:xfrm>
            <a:off x="4864608" y="3840480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Explore multimodal data (images, videos)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40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7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56C596"/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7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457200" y="850392"/>
            <a:ext cx="4114800" cy="45720"/>
          </a:xfrm>
          <a:prstGeom prst="rect">
            <a:avLst/>
          </a:prstGeom>
          <a:solidFill>
            <a:srgbClr val="56C596"/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7"/>
          <p:cNvSpPr/>
          <p:nvPr/>
        </p:nvSpPr>
        <p:spPr>
          <a:xfrm>
            <a:off x="365760" y="1005840"/>
            <a:ext cx="4206240" cy="1143000"/>
          </a:xfrm>
          <a:prstGeom prst="rect">
            <a:avLst/>
          </a:prstGeom>
          <a:solidFill>
            <a:srgbClr val="243055"/>
          </a:solidFill>
          <a:ln cap="flat" cmpd="sng" w="12700">
            <a:solidFill>
              <a:srgbClr val="2E3D6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7"/>
          <p:cNvSpPr/>
          <p:nvPr/>
        </p:nvSpPr>
        <p:spPr>
          <a:xfrm>
            <a:off x="365760" y="1005840"/>
            <a:ext cx="109728" cy="114300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7"/>
          <p:cNvSpPr/>
          <p:nvPr/>
        </p:nvSpPr>
        <p:spPr>
          <a:xfrm>
            <a:off x="566928" y="1097280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📊 Sentiment Distribution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566928" y="1444752"/>
            <a:ext cx="3886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0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D0E0"/>
                </a:solidFill>
                <a:latin typeface="Calibri"/>
                <a:ea typeface="Calibri"/>
                <a:cs typeface="Calibri"/>
                <a:sym typeface="Calibri"/>
              </a:rPr>
              <a:t>Positive and Joy dominate across all three platforms — overall tone is clearly positive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365760" y="2304288"/>
            <a:ext cx="4206240" cy="1143000"/>
          </a:xfrm>
          <a:prstGeom prst="rect">
            <a:avLst/>
          </a:prstGeom>
          <a:solidFill>
            <a:srgbClr val="243055"/>
          </a:solidFill>
          <a:ln cap="flat" cmpd="sng" w="12700">
            <a:solidFill>
              <a:srgbClr val="2E3D6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7"/>
          <p:cNvSpPr/>
          <p:nvPr/>
        </p:nvSpPr>
        <p:spPr>
          <a:xfrm>
            <a:off x="365760" y="2304288"/>
            <a:ext cx="109728" cy="1143000"/>
          </a:xfrm>
          <a:prstGeom prst="rect">
            <a:avLst/>
          </a:prstGeom>
          <a:solidFill>
            <a:srgbClr val="56C596"/>
          </a:solidFill>
          <a:ln cap="flat" cmpd="sng" w="12700">
            <a:solidFill>
              <a:srgbClr val="56C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7"/>
          <p:cNvSpPr/>
          <p:nvPr/>
        </p:nvSpPr>
        <p:spPr>
          <a:xfrm>
            <a:off x="566928" y="2395728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💬 Engagement Patterns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566928" y="2743200"/>
            <a:ext cx="3886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0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D0E0"/>
                </a:solidFill>
                <a:latin typeface="Calibri"/>
                <a:ea typeface="Calibri"/>
                <a:cs typeface="Calibri"/>
                <a:sym typeface="Calibri"/>
              </a:rPr>
              <a:t>Likes differ significantly across sentiment categories; hashtag count is the strongest engagement predictor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7"/>
          <p:cNvSpPr/>
          <p:nvPr/>
        </p:nvSpPr>
        <p:spPr>
          <a:xfrm>
            <a:off x="365760" y="3602736"/>
            <a:ext cx="4206240" cy="1143000"/>
          </a:xfrm>
          <a:prstGeom prst="rect">
            <a:avLst/>
          </a:prstGeom>
          <a:solidFill>
            <a:srgbClr val="243055"/>
          </a:solidFill>
          <a:ln cap="flat" cmpd="sng" w="12700">
            <a:solidFill>
              <a:srgbClr val="2E3D6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7"/>
          <p:cNvSpPr/>
          <p:nvPr/>
        </p:nvSpPr>
        <p:spPr>
          <a:xfrm>
            <a:off x="365760" y="3602736"/>
            <a:ext cx="109728" cy="1143000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7"/>
          <p:cNvSpPr/>
          <p:nvPr/>
        </p:nvSpPr>
        <p:spPr>
          <a:xfrm>
            <a:off x="566928" y="3694176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🤖 Classification Performance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566928" y="4041648"/>
            <a:ext cx="3886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0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D0E0"/>
                </a:solidFill>
                <a:latin typeface="Calibri"/>
                <a:ea typeface="Calibri"/>
                <a:cs typeface="Calibri"/>
                <a:sym typeface="Calibri"/>
              </a:rPr>
              <a:t>TF-IDF + Linear SVM is the best baseline at ~65% accuracy — reasonable given the dataset size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4800600" y="1005840"/>
            <a:ext cx="4206240" cy="1143000"/>
          </a:xfrm>
          <a:prstGeom prst="rect">
            <a:avLst/>
          </a:prstGeom>
          <a:solidFill>
            <a:srgbClr val="243055"/>
          </a:solidFill>
          <a:ln cap="flat" cmpd="sng" w="12700">
            <a:solidFill>
              <a:srgbClr val="2E3D6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7"/>
          <p:cNvSpPr/>
          <p:nvPr/>
        </p:nvSpPr>
        <p:spPr>
          <a:xfrm>
            <a:off x="4800600" y="1005840"/>
            <a:ext cx="109728" cy="1143000"/>
          </a:xfrm>
          <a:prstGeom prst="rect">
            <a:avLst/>
          </a:prstGeom>
          <a:solidFill>
            <a:srgbClr val="EF5350"/>
          </a:solidFill>
          <a:ln cap="flat" cmpd="sng" w="12700">
            <a:solidFill>
              <a:srgbClr val="EF5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7"/>
          <p:cNvSpPr/>
          <p:nvPr/>
        </p:nvSpPr>
        <p:spPr>
          <a:xfrm>
            <a:off x="5001768" y="1097280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🌍 Geographic Differences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5001768" y="1444752"/>
            <a:ext cx="3886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0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D0E0"/>
                </a:solidFill>
                <a:latin typeface="Calibri"/>
                <a:ea typeface="Calibri"/>
                <a:cs typeface="Calibri"/>
                <a:sym typeface="Calibri"/>
              </a:rPr>
              <a:t>Sentiment distributions vary by country (p&lt;0.05), but sparse samples require cautious interpretation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4800600" y="2304288"/>
            <a:ext cx="4206240" cy="1143000"/>
          </a:xfrm>
          <a:prstGeom prst="rect">
            <a:avLst/>
          </a:prstGeom>
          <a:solidFill>
            <a:srgbClr val="243055"/>
          </a:solidFill>
          <a:ln cap="flat" cmpd="sng" w="12700">
            <a:solidFill>
              <a:srgbClr val="2E3D6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7"/>
          <p:cNvSpPr/>
          <p:nvPr/>
        </p:nvSpPr>
        <p:spPr>
          <a:xfrm>
            <a:off x="4800600" y="2304288"/>
            <a:ext cx="109728" cy="1143000"/>
          </a:xfrm>
          <a:prstGeom prst="rect">
            <a:avLst/>
          </a:prstGeom>
          <a:solidFill>
            <a:srgbClr val="9C27B0"/>
          </a:solidFill>
          <a:ln cap="flat" cmpd="sng" w="12700">
            <a:solidFill>
              <a:srgbClr val="9C2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7"/>
          <p:cNvSpPr/>
          <p:nvPr/>
        </p:nvSpPr>
        <p:spPr>
          <a:xfrm>
            <a:off x="5001768" y="2395728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🔮 Future Directions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5001768" y="2743200"/>
            <a:ext cx="3886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0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D0E0"/>
                </a:solidFill>
                <a:latin typeface="Calibri"/>
                <a:ea typeface="Calibri"/>
                <a:cs typeface="Calibri"/>
                <a:sym typeface="Calibri"/>
              </a:rPr>
              <a:t>Incorporating BERT, user features, and causal inference can substantially improve model power and interpretability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7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A80"/>
                </a:solidFill>
                <a:latin typeface="Calibri"/>
                <a:ea typeface="Calibri"/>
                <a:cs typeface="Calibri"/>
                <a:sym typeface="Calibri"/>
              </a:rPr>
              <a:t>Social Media Sentiment Analysis &amp; Engagement Prediction  |  Dataset: 711 posts · Twitter · Instagram · Facebook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